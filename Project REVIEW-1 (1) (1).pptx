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08-13T04:55:49.425"/>
    <p1510:client id="{1A19E36E-CAC7-647A-22FB-286FC128557F}" v="16" dt="2026-08-12T15:34:51.608"/>
    <p1510:client id="{763F1ECE-33C6-794B-9399-F92FE7EA4081}" v="381" dt="2026-08-12T15:34:42.847"/>
    <p1510:client id="{98C043AA-27FF-D296-9093-A93E2251F9B0}" v="7" dt="2026-08-13T04:57:50.347"/>
    <p1510:client id="{B0236D94-40C0-7DF9-EE6D-1E9F18342C31}" v="4" dt="2026-08-13T03:56:48.687"/>
    <p1510:client id="{BE090B43-6FC5-967D-A63E-B3BBFC0823DE}" v="6" dt="2026-08-12T13:21:32.024"/>
    <p1510:client id="{C6BE7736-1F77-2AAF-031F-AD3A15762002}" v="47" dt="2026-08-13T07:43:32.946"/>
    <p1510:client id="{CF9B9C2C-2742-0162-F99A-A9F761C1E7BE}" v="10" dt="2026-08-12T14:41:34.102"/>
    <p1510:client id="{F1D0B08B-70FE-F3B5-B7A1-376FBF7BD518}" v="3" dt="2026-08-12T16:14:25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IN" sz="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Wednesday, August </a:t>
            </a:r>
            <a:r>
              <a:rPr lang="en-IN" sz="2000" b="1">
                <a:solidFill>
                  <a:srgbClr val="FF0000"/>
                </a:solidFill>
                <a:latin typeface="Times New Roman"/>
                <a:cs typeface="Times New Roman"/>
              </a:rPr>
              <a:t>12</a:t>
            </a:r>
            <a:r>
              <a:rPr lang="en-IN" sz="2000" b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15172"/>
              </p:ext>
            </p:extLst>
          </p:nvPr>
        </p:nvGraphicFramePr>
        <p:xfrm>
          <a:off x="8193271" y="4898509"/>
          <a:ext cx="3702050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Mahalakshmi-2420030313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 Tejasree-2420030441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 Sruthi-2420030578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Amulya-2420090132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13 August 2026</a:t>
            </a:fld>
            <a:endParaRPr lang="en-IN" b="1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308916" y="581119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2800">
                <a:solidFill>
                  <a:schemeClr val="bg1"/>
                </a:solidFill>
                <a:ea typeface="+mn-lt"/>
                <a:cs typeface="+mn-lt"/>
              </a:rPr>
              <a:t>Software-Defined Factory Controller using Distributed RT Linux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 August 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CDCE3D-78B3-BE1C-2CBA-60E77C16B9E2}"/>
              </a:ext>
            </a:extLst>
          </p:cNvPr>
          <p:cNvSpPr txBox="1"/>
          <p:nvPr/>
        </p:nvSpPr>
        <p:spPr>
          <a:xfrm>
            <a:off x="1121064" y="1499755"/>
            <a:ext cx="958619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Centralized Control:</a:t>
            </a:r>
            <a:r>
              <a:rPr lang="en-US">
                <a:ea typeface="+mn-lt"/>
                <a:cs typeface="+mn-lt"/>
              </a:rPr>
              <a:t> Traditional factories depend on a single/main controller, creating a </a:t>
            </a:r>
            <a:r>
              <a:rPr lang="en-US" b="1">
                <a:ea typeface="+mn-lt"/>
                <a:cs typeface="+mn-lt"/>
              </a:rPr>
              <a:t>single point of failure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Hardware Dependency:</a:t>
            </a:r>
            <a:r>
              <a:rPr lang="en-US">
                <a:ea typeface="+mn-lt"/>
                <a:cs typeface="+mn-lt"/>
              </a:rPr>
              <a:t> Conventional systems rely heavily on </a:t>
            </a:r>
            <a:r>
              <a:rPr lang="en-US" b="1">
                <a:ea typeface="+mn-lt"/>
                <a:cs typeface="+mn-lt"/>
              </a:rPr>
              <a:t>specialized hardware and PLCs</a:t>
            </a:r>
            <a:r>
              <a:rPr lang="en-US">
                <a:ea typeface="+mn-lt"/>
                <a:cs typeface="+mn-lt"/>
              </a:rPr>
              <a:t>, increasing cost and limiting flexibility.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Limited Scalability:</a:t>
            </a:r>
            <a:r>
              <a:rPr lang="en-US">
                <a:ea typeface="+mn-lt"/>
                <a:cs typeface="+mn-lt"/>
              </a:rPr>
              <a:t> Adding new machines or production units can require </a:t>
            </a:r>
            <a:r>
              <a:rPr lang="en-US" b="1">
                <a:ea typeface="+mn-lt"/>
                <a:cs typeface="+mn-lt"/>
              </a:rPr>
              <a:t>major hardware and configuration changes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Lack of Flexibility:</a:t>
            </a:r>
            <a:r>
              <a:rPr lang="en-US">
                <a:ea typeface="+mn-lt"/>
                <a:cs typeface="+mn-lt"/>
              </a:rPr>
              <a:t> Changing control logic is often difficult because it is closely tied to the underlying hardware.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Real-Time Requirement:</a:t>
            </a:r>
            <a:r>
              <a:rPr lang="en-US">
                <a:ea typeface="+mn-lt"/>
                <a:cs typeface="+mn-lt"/>
              </a:rPr>
              <a:t> Factory operations require </a:t>
            </a:r>
            <a:r>
              <a:rPr lang="en-US" b="1">
                <a:ea typeface="+mn-lt"/>
                <a:cs typeface="+mn-lt"/>
              </a:rPr>
              <a:t>fast and predictable responses</a:t>
            </a:r>
            <a:r>
              <a:rPr lang="en-US">
                <a:ea typeface="+mn-lt"/>
                <a:cs typeface="+mn-lt"/>
              </a:rPr>
              <a:t> to sensor inputs and machine events.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Need for Better Architecture: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distributed, software-defined, real-time control system</a:t>
            </a:r>
            <a:r>
              <a:rPr lang="en-US">
                <a:ea typeface="+mn-lt"/>
                <a:cs typeface="+mn-lt"/>
              </a:rPr>
              <a:t> is needed to make factory automation more flexible, scalable, and modular.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Our Solution:</a:t>
            </a:r>
            <a:r>
              <a:rPr lang="en-US">
                <a:ea typeface="+mn-lt"/>
                <a:cs typeface="+mn-lt"/>
              </a:rPr>
              <a:t> We address this using </a:t>
            </a:r>
            <a:r>
              <a:rPr lang="en-US" b="1">
                <a:ea typeface="+mn-lt"/>
                <a:cs typeface="+mn-lt"/>
              </a:rPr>
              <a:t>multiple RT Linux-based controller nodes</a:t>
            </a:r>
            <a:r>
              <a:rPr lang="en-US">
                <a:ea typeface="+mn-lt"/>
                <a:cs typeface="+mn-lt"/>
              </a:rPr>
              <a:t> that independently control factory operations and communicate over a network.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450910-11F2-8CCD-E6EC-A14CAA5F0D37}"/>
              </a:ext>
            </a:extLst>
          </p:cNvPr>
          <p:cNvSpPr txBox="1"/>
          <p:nvPr/>
        </p:nvSpPr>
        <p:spPr>
          <a:xfrm>
            <a:off x="1025844" y="1446281"/>
            <a:ext cx="1014152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Develop a software-defined factory controller</a:t>
            </a:r>
            <a:r>
              <a:rPr lang="en-US">
                <a:ea typeface="+mn-lt"/>
                <a:cs typeface="+mn-lt"/>
              </a:rPr>
              <a:t> for an automated conveyor-based sorting process.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Implement distributed control</a:t>
            </a:r>
            <a:r>
              <a:rPr lang="en-US">
                <a:ea typeface="+mn-lt"/>
                <a:cs typeface="+mn-lt"/>
              </a:rPr>
              <a:t> by assigning conveyor, detection, and sorting tasks to separate RT Linux nodes.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Achieve real-time operation</a:t>
            </a:r>
            <a:r>
              <a:rPr lang="en-US">
                <a:ea typeface="+mn-lt"/>
                <a:cs typeface="+mn-lt"/>
              </a:rPr>
              <a:t> by processing sensor inputs and generating machine-control commands with predictable response.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Enable inter-node communication</a:t>
            </a:r>
            <a:r>
              <a:rPr lang="en-US">
                <a:ea typeface="+mn-lt"/>
                <a:cs typeface="+mn-lt"/>
              </a:rPr>
              <a:t> so different controllers can coordinate the complete sorting process.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Provide flexible control logic</a:t>
            </a:r>
            <a:r>
              <a:rPr lang="en-US">
                <a:ea typeface="+mn-lt"/>
                <a:cs typeface="+mn-lt"/>
              </a:rPr>
              <a:t> that can be modified or updated through software without major hardware changes. 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Design a modular and scalable architecture</a:t>
            </a:r>
            <a:r>
              <a:rPr lang="en-US">
                <a:ea typeface="+mn-lt"/>
                <a:cs typeface="+mn-lt"/>
              </a:rPr>
              <a:t> that can be extended to additional machines, sensors, and factory processes. 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Demonstrate reliable coordination</a:t>
            </a:r>
            <a:r>
              <a:rPr lang="en-US">
                <a:ea typeface="+mn-lt"/>
                <a:cs typeface="+mn-lt"/>
              </a:rPr>
              <a:t> between sensors, controllers, and actuators in an industrial-style environment.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2986790"/>
              </p:ext>
            </p:extLst>
          </p:nvPr>
        </p:nvGraphicFramePr>
        <p:xfrm>
          <a:off x="186905" y="690113"/>
          <a:ext cx="11859685" cy="5569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57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1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195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Reghenzani et al.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The Real-Time Linux Kernel: A Survey on PREEMPT_RT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 (2019)</a:t>
                      </a:r>
                      <a:endParaRPr lang="en-IN" sz="1400" b="1" i="0" kern="12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•Surveys  PREEMPT_RT architecture and real-time Linux approaches  • Studies </a:t>
                      </a:r>
                      <a:r>
                        <a:rPr lang="en-IN" sz="1400" b="0" i="0" u="none" strike="noStrike" kern="1200" noProof="0" err="1">
                          <a:solidFill>
                            <a:srgbClr val="FF0000"/>
                          </a:solidFill>
                          <a:effectLst/>
                        </a:rPr>
                        <a:t>preemption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, scheduling and real-time behaviour  • Explores Linux on COTS hardware for real-time applications</a:t>
                      </a:r>
                      <a:endParaRPr lang="en-US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Shows that Linux can be adapted for real-time workloads 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PREEMPT_RT provides improved timing predictability compared with general-purpose Linux • Establishes RT Linux as a suitable foundation for our controller</a:t>
                      </a:r>
                      <a:endParaRPr lang="en-US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Focuses mainly on 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  <a:sym typeface="Arial"/>
                        </a:rPr>
                        <a:t>the 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OS/kernel real-time aspects, not distributed factory-control orchestration • Does not address software-defined task redistribution across multiple RT Linux nodes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Kim et al. [2]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Software-defined Factory: Paradigm Shift in Manufacturing Towards Industry 5.0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 (2025)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Aptos"/>
                        </a:rPr>
                        <a:t>• Proposes a Software-Defined Factory architecture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Aptos"/>
                        </a:rPr>
                        <a:t>• Decouples product, process and factory functions from conventional hardware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  <a:latin typeface="Aptos"/>
                        </a:rPr>
                        <a:t>• Discusses digital twins, robotics, AI, wireless networks and cloud technologies</a:t>
                      </a:r>
                      <a:endParaRPr lang="en-US" sz="1400" b="0" i="0" u="none" strike="noStrike" kern="1200" noProof="0">
                        <a:solidFill>
                          <a:srgbClr val="FF0000"/>
                        </a:solidFill>
                        <a:effectLst/>
                        <a:latin typeface="Apto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Establishes Software-defined factory as a way to make manufacturing more flexible and reconfigurable • Supports the idea of separating factory functionality from fixed hardware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Provides a </a:t>
                      </a:r>
                      <a:r>
                        <a:rPr lang="en-US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high-level SDF architecture</a:t>
                      </a: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, but does not specifically investigate distributed RT Linux task execution and end-to-end real-time scheduling 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Mohamed Khalgui [3]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A Deployment Methodology of Real-Time Industrial Control Applications in Distributed Controllers</a:t>
                      </a: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en-IN" sz="1400" b="0" i="1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Computers in Industry, 2008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 • Deploys control blocks as OS tasks across multiple controllers • Uses </a:t>
                      </a:r>
                      <a:r>
                        <a:rPr lang="en-US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hybrid scheduling</a:t>
                      </a: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, combining static and dynamic policies • Considers both device execution and communication-network timing</a:t>
                      </a:r>
                      <a:endParaRPr lang="en-US" sz="1400" b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Demonstrates that industrial-control tasks can be distributed across multiple controllers while considering real-time constraints • Shows the importance of </a:t>
                      </a:r>
                      <a:r>
                        <a:rPr lang="en-US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task scheduling and end-to-end timing</a:t>
                      </a: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 in distributed control systems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• Focuses on deployment and scheduling of distributed PLC-based systems • Does not address a </a:t>
                      </a:r>
                      <a:r>
                        <a:rPr lang="en-US" sz="1400" b="1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software-defined RT Linux architecture</a:t>
                      </a:r>
                      <a:r>
                        <a:rPr lang="en-US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 with runtime monitoring and dynamic task reconfiguration based on changing node conditions </a:t>
                      </a:r>
                      <a:endParaRPr lang="en-US" sz="1400" b="1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13 August 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E48FBE-C037-46F5-F054-79844B276DE7}"/>
              </a:ext>
            </a:extLst>
          </p:cNvPr>
          <p:cNvSpPr txBox="1"/>
          <p:nvPr/>
        </p:nvSpPr>
        <p:spPr>
          <a:xfrm>
            <a:off x="694955" y="1417379"/>
            <a:ext cx="11128742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Existing research covers RT Linux, Software-Defined Factories, and distributed control, but these areas are largely studied separately. </a:t>
            </a: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Distributed control focuses mainly on task scheduling and deployment, with limited adaptation to changing node load and communication conditions. </a:t>
            </a: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RT Linux improves task-level timing predictability, but distributed communication can still cause latency, jitter, and deadline violations. </a:t>
            </a: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There is a need for a lightweight, software-defined controller that dynamically allocates tasks across RT Linux nodes while monitoring latency, jitter, and deadline compliance.</a:t>
            </a:r>
          </a:p>
          <a:p>
            <a:pPr>
              <a:buFont typeface="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b="1"/>
              <a:t>Gap → </a:t>
            </a:r>
            <a:r>
              <a:rPr lang="en-US" sz="2000">
                <a:ea typeface="+mn-lt"/>
                <a:cs typeface="+mn-lt"/>
              </a:rPr>
              <a:t>Our research focuses on developing a lightweight software-defined factory controller that dynamically manages control tasks across distributed RT Linux nodes. The system monitors node workload, communication latency and real-time behavior to determine whether task reconfiguration is required, and experimentally evaluates the impact on end-to-end latency, jitter and deadline compliance.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4B12E2-C143-0448-C995-86C20933A20A}"/>
              </a:ext>
            </a:extLst>
          </p:cNvPr>
          <p:cNvSpPr txBox="1"/>
          <p:nvPr/>
        </p:nvSpPr>
        <p:spPr>
          <a:xfrm>
            <a:off x="593652" y="1568303"/>
            <a:ext cx="11492020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400" b="1"/>
              <a:t>Software-Defined Control:</a:t>
            </a:r>
            <a:r>
              <a:rPr lang="en-US" sz="2400"/>
              <a:t> Factory control tasks are implemented as software functions that can be configured and assigned to different nodes. </a:t>
            </a:r>
          </a:p>
          <a:p>
            <a:pPr>
              <a:buFont typeface=""/>
              <a:buChar char="•"/>
            </a:pPr>
            <a:r>
              <a:rPr lang="en-US" sz="2400" b="1"/>
              <a:t>Distributed RT Linux Architecture:</a:t>
            </a:r>
            <a:r>
              <a:rPr lang="en-US" sz="2400"/>
              <a:t> Control tasks are distributed across multiple PREEMPT_RT Linux nodes instead of relying on a single controller. </a:t>
            </a:r>
          </a:p>
          <a:p>
            <a:pPr>
              <a:buFont typeface=""/>
              <a:buChar char="•"/>
            </a:pPr>
            <a:r>
              <a:rPr lang="en-US" sz="2400" b="1"/>
              <a:t>Real-Time-Aware Task Allocation:</a:t>
            </a:r>
            <a:r>
              <a:rPr lang="en-US" sz="2400"/>
              <a:t> Task placement considers CPU load, execution time, communication latency and deadlines, rather than simply assigning tasks to available nodes. </a:t>
            </a:r>
          </a:p>
          <a:p>
            <a:pPr>
              <a:buFont typeface=""/>
              <a:buChar char="•"/>
            </a:pPr>
            <a:r>
              <a:rPr lang="en-US" sz="2400" b="1"/>
              <a:t>Dynamic Reconfiguration:</a:t>
            </a:r>
            <a:r>
              <a:rPr lang="en-US" sz="2400"/>
              <a:t> Tasks can be reassigned when a node becomes overloaded or unavailable, helping maintain factory operation. </a:t>
            </a:r>
            <a:endParaRPr lang="en-US"/>
          </a:p>
          <a:p>
            <a:pPr>
              <a:buFont typeface=""/>
              <a:buChar char="•"/>
            </a:pPr>
            <a:r>
              <a:rPr lang="en-US" sz="2400" b="1"/>
              <a:t>Flexible &amp; Scalable Architecture:</a:t>
            </a:r>
            <a:r>
              <a:rPr lang="en-US" sz="2400"/>
              <a:t> New nodes or control functions can be added and configured through software without redesigning the entire control architecture.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985158" y="1479731"/>
            <a:ext cx="10512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021A8B-C2BC-87E5-0950-F7B69620F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478076"/>
              </p:ext>
            </p:extLst>
          </p:nvPr>
        </p:nvGraphicFramePr>
        <p:xfrm>
          <a:off x="568960" y="1940560"/>
          <a:ext cx="12192000" cy="37518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127543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529432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08498808"/>
                    </a:ext>
                  </a:extLst>
                </a:gridCol>
              </a:tblGrid>
              <a:tr h="36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36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 Analysis &amp; System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1–2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5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RT Linux Setup &amp; Controller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3–4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334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Sensor/Machine Data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5–6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3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Distributed Communication &amp;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7–8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1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&amp; Real-Time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9–10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20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Integration, Testing &amp;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11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99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Phase 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Demo, 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Week 12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4708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ABFE236-844F-4864-E030-74D2D704D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5" y="1265071"/>
            <a:ext cx="121158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revision>31</cp:revision>
  <dcterms:created xsi:type="dcterms:W3CDTF">2026-08-08T06:33:56Z</dcterms:created>
  <dcterms:modified xsi:type="dcterms:W3CDTF">2026-08-13T07:44:11Z</dcterms:modified>
</cp:coreProperties>
</file>